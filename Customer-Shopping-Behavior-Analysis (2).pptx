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fntdata" ContentType="application/x-fontdata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 Medium"/>
      <p:regular r:id="rId17"/>
    </p:embeddedFont>
    <p:embeddedFont>
      <p:font typeface="Outfit Medium"/>
      <p:regular r:id="rId18"/>
    </p:embeddedFont>
    <p:embeddedFont>
      <p:font typeface="IBM Plex Sans"/>
      <p:regular r:id="rId19"/>
    </p:embeddedFont>
    <p:embeddedFont>
      <p:font typeface="IBM Plex Sans"/>
      <p:regular r:id="rId20"/>
    </p:embeddedFont>
    <p:embeddedFont>
      <p:font typeface="IBM Plex Sans"/>
      <p:regular r:id="rId21"/>
    </p:embeddedFont>
    <p:embeddedFont>
      <p:font typeface="IBM Plex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image" Target="/ppt/media/image-1002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image" Target="/ppt/media/image-1003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image" Target="/ppt/media/image-1004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image" Target="/ppt/media/image-1005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image" Target="/ppt/media/image-1006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image" Target="/ppt/media/image-1007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image" Target="/ppt/media/image-1008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image" Target="/ppt/media/image-1009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image" Target="/ppt/media/image-1010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image" Target="/ppt/media/image-1011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-1-1.png" Id="rId1" /><Relationship Type="http://schemas.openxmlformats.org/officeDocument/2006/relationships/slideLayout" Target="/ppt/slideLayouts/slideLayout2.xml" Id="rId2" /><Relationship Type="http://schemas.openxmlformats.org/officeDocument/2006/relationships/notesSlide" Target="/ppt/notesSlides/notesSlide1.xml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-2-1.png" Id="rId1" /><Relationship Type="http://schemas.openxmlformats.org/officeDocument/2006/relationships/slideLayout" Target="/ppt/slideLayouts/slideLayout3.xml" Id="rId2" /><Relationship Type="http://schemas.openxmlformats.org/officeDocument/2006/relationships/notesSlide" Target="/ppt/notesSlides/notesSlide2.xml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-3-1.png" Id="rId1" /><Relationship Type="http://schemas.openxmlformats.org/officeDocument/2006/relationships/slideLayout" Target="/ppt/slideLayouts/slideLayout4.xml" Id="rId2" /><Relationship Type="http://schemas.openxmlformats.org/officeDocument/2006/relationships/notesSlide" Target="/ppt/notesSlides/notesSlide3.xml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-4-1.png" Id="rId1" /><Relationship Type="http://schemas.openxmlformats.org/officeDocument/2006/relationships/slideLayout" Target="/ppt/slideLayouts/slideLayout5.xml" Id="rId2" /><Relationship Type="http://schemas.openxmlformats.org/officeDocument/2006/relationships/notesSlide" Target="/ppt/notesSlides/notesSlide4.xml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-5-1.png" Id="rId1" /><Relationship Type="http://schemas.openxmlformats.org/officeDocument/2006/relationships/slideLayout" Target="/ppt/slideLayouts/slideLayout6.xml" Id="rId2" /><Relationship Type="http://schemas.openxmlformats.org/officeDocument/2006/relationships/notesSlide" Target="/ppt/notesSlides/notesSlide5.xml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image" Target="/ppt/media/image-6-2.png" Id="rId2" /><Relationship Type="http://schemas.openxmlformats.org/officeDocument/2006/relationships/image" Target="/ppt/media/image-6-3.png" Id="rId3" /><Relationship Type="http://schemas.openxmlformats.org/officeDocument/2006/relationships/slideLayout" Target="/ppt/slideLayouts/slideLayout7.xml" Id="rId4" /><Relationship Type="http://schemas.openxmlformats.org/officeDocument/2006/relationships/notesSlide" Target="/ppt/notesSlides/notesSlide6.xml" Id="rI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-7-1.png" Id="rId1" /><Relationship Type="http://schemas.openxmlformats.org/officeDocument/2006/relationships/slideLayout" Target="/ppt/slideLayouts/slideLayout8.xml" Id="rId2" /><Relationship Type="http://schemas.openxmlformats.org/officeDocument/2006/relationships/notesSlide" Target="/ppt/notesSlides/notesSlide7.xml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-8-1.png" Id="rId1" /><Relationship Type="http://schemas.openxmlformats.org/officeDocument/2006/relationships/slideLayout" Target="/ppt/slideLayouts/slideLayout9.xml" Id="rId2" /><Relationship Type="http://schemas.openxmlformats.org/officeDocument/2006/relationships/notesSlide" Target="/ppt/notesSlides/notesSlide8.xml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-9-1.png" Id="rId1" /><Relationship Type="http://schemas.openxmlformats.org/officeDocument/2006/relationships/image" Target="/ppt/media/image-9-2.png" Id="rId2" /><Relationship Type="http://schemas.openxmlformats.org/officeDocument/2006/relationships/image" Target="/ppt/media/image-9-3.png" Id="rId3" /><Relationship Type="http://schemas.openxmlformats.org/officeDocument/2006/relationships/image" Target="/ppt/media/image-9-4.png" Id="rId4" /><Relationship Type="http://schemas.openxmlformats.org/officeDocument/2006/relationships/slideLayout" Target="/ppt/slideLayouts/slideLayout10.xml" Id="rId5" /><Relationship Type="http://schemas.openxmlformats.org/officeDocument/2006/relationships/notesSlide" Target="/ppt/notesSlides/notesSlide9.xml" Id="rI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notesSlide" Target="/ppt/notesSlides/notesSlide10.xml" Id="rId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3,900 purchases — 18 features — actionable insights for strategy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62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 Summary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15214"/>
            <a:ext cx="2367558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28224" y="3849648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Rows &amp; Columns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694396"/>
            <a:ext cx="1898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3,900 rows • 18 columns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388162" y="3615214"/>
            <a:ext cx="2367558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22596" y="384964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22596" y="4340066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Demographics, purchase details, behavior, shipping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982533" y="3615214"/>
            <a:ext cx="2367558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6968" y="384964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Missing Data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16968" y="4340066"/>
            <a:ext cx="1898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 missing values in Review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963" y="980242"/>
            <a:ext cx="7326511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Exploratory Data Analysis (Python)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59963" y="1804749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9963" y="2102168"/>
            <a:ext cx="7824073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6" name="Text 3"/>
          <p:cNvSpPr/>
          <p:nvPr/>
        </p:nvSpPr>
        <p:spPr>
          <a:xfrm>
            <a:off x="659963" y="2242066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Load &amp; Inspect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9963" y="2630805"/>
            <a:ext cx="78240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pandas: df.info(), .describe()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9963" y="3205043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9963" y="3502462"/>
            <a:ext cx="7824073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0" name="Text 7"/>
          <p:cNvSpPr/>
          <p:nvPr/>
        </p:nvSpPr>
        <p:spPr>
          <a:xfrm>
            <a:off x="659963" y="3642360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Clean &amp; Impute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59963" y="4031099"/>
            <a:ext cx="78240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Imputed Review Rating by category median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59963" y="4605337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9963" y="4902756"/>
            <a:ext cx="7824073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4" name="Text 11"/>
          <p:cNvSpPr/>
          <p:nvPr/>
        </p:nvSpPr>
        <p:spPr>
          <a:xfrm>
            <a:off x="659963" y="5042654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Eng.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59963" y="5431393"/>
            <a:ext cx="78240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age_group, purchase_frequency_days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9963" y="6005632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59963" y="6303050"/>
            <a:ext cx="7824073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8" name="Text 15"/>
          <p:cNvSpPr/>
          <p:nvPr/>
        </p:nvSpPr>
        <p:spPr>
          <a:xfrm>
            <a:off x="659963" y="6442948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Standardize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59963" y="6831687"/>
            <a:ext cx="78240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snake_case columns; dropped promo_code_used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675" y="587812"/>
            <a:ext cx="7053977" cy="7053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6273" y="2147530"/>
            <a:ext cx="3617833" cy="50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Analysis (SQL)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9236273" y="2775942"/>
            <a:ext cx="3617833" cy="948809"/>
          </a:xfrm>
          <a:prstGeom prst="roundRect">
            <a:avLst>
              <a:gd name="adj" fmla="val 152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1397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419392" y="2959060"/>
            <a:ext cx="2004060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Revenue by Gender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419392" y="3322677"/>
            <a:ext cx="3251597" cy="21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Male: 157,890 • Female: 75,191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236273" y="3837980"/>
            <a:ext cx="3617833" cy="1167765"/>
          </a:xfrm>
          <a:prstGeom prst="roundRect">
            <a:avLst>
              <a:gd name="adj" fmla="val 123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1397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419392" y="4021098"/>
            <a:ext cx="2004060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Subscribers vs Non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419392" y="4384715"/>
            <a:ext cx="3251597" cy="43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Yes: 1,053 (avg $59.49) • No: 2,847 (avg $59.87)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236273" y="5118973"/>
            <a:ext cx="3617833" cy="948809"/>
          </a:xfrm>
          <a:prstGeom prst="roundRect">
            <a:avLst>
              <a:gd name="adj" fmla="val 152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1397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419392" y="5302091"/>
            <a:ext cx="2004060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Shipping Comparison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419392" y="5665708"/>
            <a:ext cx="3251597" cy="21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$58.46 • Express $60.48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High-Spending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839 rows flagged — examples: customer_id 2 ($64), 3 ($73), 4 ($90), 7 ($85), 9 ($97)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02844"/>
            <a:ext cx="8284131" cy="46236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1367552"/>
            <a:ext cx="420516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Products &amp; Discounts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943" y="3040261"/>
            <a:ext cx="925116" cy="11563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47546" y="3040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by Rating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847546" y="3621405"/>
            <a:ext cx="299656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Gloves 3.86 • Sandals 3.84 • Boots 3.82 • Hat 3.80 • Skirt 3.78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5163741"/>
            <a:ext cx="925116" cy="11563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47546" y="51637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Discount-Dependent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847546" y="5744885"/>
            <a:ext cx="299656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Hat 50% • Sneakers 49.66% • Coat 49.07% • Sweater 48.17% • Pants 47.37%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9860"/>
            <a:ext cx="61494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8880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65260" y="28313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866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Loyal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3570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17361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65260" y="42161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017306" y="4251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17306" y="47419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5843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65260" y="56009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6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New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1267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24" y="1756172"/>
            <a:ext cx="8451652" cy="47171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2274" y="1063943"/>
            <a:ext cx="4330422" cy="183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Dashboard Highlights (Power BI)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9622274" y="3090029"/>
            <a:ext cx="440531" cy="440531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231755" y="3157299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Metrics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231755" y="3632240"/>
            <a:ext cx="3720941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3.9K customers • $59.76 avg spend • 3.75 avg rating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22274" y="4554141"/>
            <a:ext cx="440531" cy="440531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231755" y="462141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Category Revenue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231755" y="5096351"/>
            <a:ext cx="3720941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Clothing 100K • Accessories 70K • Footwear 30K • Outerwear 20K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22274" y="6018252"/>
            <a:ext cx="440531" cy="440531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231755" y="6085523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Sales Volume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231755" y="6560463"/>
            <a:ext cx="3720941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Clothing 1,800 • Accessories 1,200 • Footwear 500 • Outerwear 200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2866" y="642104"/>
            <a:ext cx="4006215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Revenue &amp; Sales by 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8553" y="2343626"/>
            <a:ext cx="1904524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45K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9598" y="1375886"/>
            <a:ext cx="2322671" cy="23226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43193" y="3842861"/>
            <a:ext cx="193559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Young Adult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972866" y="4148138"/>
            <a:ext cx="5276255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• Sales ~1,000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66967" y="2343626"/>
            <a:ext cx="1904524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40K</a:t>
            </a:r>
            <a:endParaRPr lang="en-US" sz="3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012" y="1375886"/>
            <a:ext cx="2322671" cy="23226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51488" y="3842861"/>
            <a:ext cx="193559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Middle-aged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81161" y="4148138"/>
            <a:ext cx="5276374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• Sales ~900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8553" y="5574387"/>
            <a:ext cx="1904524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35K</a:t>
            </a:r>
            <a:endParaRPr lang="en-US" sz="3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598" y="4606647"/>
            <a:ext cx="2322671" cy="23226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3193" y="7073622"/>
            <a:ext cx="193559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Adult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972866" y="7378898"/>
            <a:ext cx="5276255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• Sales ~800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066967" y="5574387"/>
            <a:ext cx="1904524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30K</a:t>
            </a:r>
            <a:endParaRPr lang="en-US" sz="3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012" y="4606647"/>
            <a:ext cx="2322671" cy="23226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1488" y="7073622"/>
            <a:ext cx="193559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Senior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381161" y="7378898"/>
            <a:ext cx="5276374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• Sales ~700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549"/>
            <a:ext cx="6942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78956"/>
            <a:ext cx="3090505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3313390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803809"/>
            <a:ext cx="26216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 exclusive subscriber benefits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3078956"/>
            <a:ext cx="3090624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5543" y="3313390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5543" y="3803809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Reward repeat buyers to grow loyal segment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078956"/>
            <a:ext cx="3090624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62982" y="3313390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Review Discounts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803809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 sales lift with margin control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3078956"/>
            <a:ext cx="3090624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80420" y="3313390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80420" y="3803809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Highlight top-rated &amp; best-selling items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90862"/>
            <a:ext cx="13042821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8224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8224" y="5715714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on high-revenue age groups &amp;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2026-03-08T02:20:03Z</dcterms:created>
  <dcterms:modified xsi:type="dcterms:W3CDTF">2026-03-08T02:20:03Z</dcterms:modified>
</cp:coreProperties>
</file>